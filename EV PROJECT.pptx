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6"/>
  </p:notesMasterIdLst>
  <p:sldIdLst>
    <p:sldId id="256" r:id="rId3"/>
    <p:sldId id="571" r:id="rId4"/>
    <p:sldId id="572" r:id="rId5"/>
    <p:sldId id="573" r:id="rId6"/>
    <p:sldId id="574" r:id="rId7"/>
    <p:sldId id="575" r:id="rId8"/>
    <p:sldId id="576" r:id="rId9"/>
    <p:sldId id="580" r:id="rId10"/>
    <p:sldId id="581" r:id="rId11"/>
    <p:sldId id="577" r:id="rId12"/>
    <p:sldId id="579" r:id="rId13"/>
    <p:sldId id="578" r:id="rId14"/>
    <p:sldId id="536" r:id="rId15"/>
  </p:sldIdLst>
  <p:sldSz cx="12192000" cy="6858000"/>
  <p:notesSz cx="6858000" cy="9144000"/>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p:cViewPr varScale="1">
        <p:scale>
          <a:sx n="44" d="100"/>
          <a:sy n="44" d="100"/>
        </p:scale>
        <p:origin x="86" y="1186"/>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14-03-2026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13</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14-03-2026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3/14/2026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14/03/2026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6" Type="http://schemas.openxmlformats.org/officeDocument/2006/relationships/image" Target="../media/image3.jpeg"/><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adityarawat-05/EV-Sales-PowerBi-Dashboard" TargetMode="Externa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515856" y="1056334"/>
            <a:ext cx="4746772" cy="2506766"/>
          </a:xfrm>
          <a:prstGeom prst="rect">
            <a:avLst/>
          </a:prstGeom>
        </p:spPr>
        <p:txBody>
          <a:bodyPr vert="horz" lIns="91440" tIns="45720" rIns="91440" bIns="45720" rtlCol="0" anchor="b">
            <a:normAutofit fontScale="8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br>
              <a:rPr lang="en-US" sz="5100" b="1" dirty="0"/>
            </a:br>
            <a:r>
              <a:rPr lang="en-US" sz="5400" dirty="0"/>
              <a:t>Electric Vehicle Sales Analysis Dashboard</a:t>
            </a:r>
            <a:endParaRPr lang="en-US" sz="5100" b="1" kern="1200" dirty="0"/>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594127" y="3739889"/>
            <a:ext cx="4166512"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Aditya Rawat</a:t>
            </a:r>
          </a:p>
          <a:p>
            <a:pPr algn="l">
              <a:spcAft>
                <a:spcPts val="600"/>
              </a:spcAft>
            </a:pPr>
            <a:r>
              <a:rPr lang="en-US" sz="1600" b="1" cap="all" dirty="0"/>
              <a:t>College Name: VIT VELLORE</a:t>
            </a:r>
          </a:p>
          <a:p>
            <a:pPr algn="l">
              <a:spcAft>
                <a:spcPts val="600"/>
              </a:spcAft>
            </a:pPr>
            <a:r>
              <a:rPr lang="en-US" sz="1600" b="1" cap="all" dirty="0"/>
              <a:t>Department: BTECH. CSE</a:t>
            </a:r>
          </a:p>
          <a:p>
            <a:pPr algn="l">
              <a:spcAft>
                <a:spcPts val="600"/>
              </a:spcAft>
            </a:pPr>
            <a:r>
              <a:rPr lang="en-US" sz="1600" b="1" cap="all" dirty="0"/>
              <a:t>Email ID: aditya005rawat@gmail.com</a:t>
            </a:r>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a:extLst>
              <a:ext uri="{FF2B5EF4-FFF2-40B4-BE49-F238E27FC236}">
                <a16:creationId xmlns:a16="http://schemas.microsoft.com/office/drawing/2014/main" id="{B4288F3F-AD4C-81EA-1336-D2C00EFCC479}"/>
              </a:ext>
            </a:extLst>
          </p:cNvPr>
          <p:cNvPicPr>
            <a:picLocks noChangeAspect="1"/>
          </p:cNvPicPr>
          <p:nvPr/>
        </p:nvPicPr>
        <p:blipFill>
          <a:blip r:embed="rId5"/>
          <a:stretch>
            <a:fillRect/>
          </a:stretch>
        </p:blipFill>
        <p:spPr>
          <a:xfrm>
            <a:off x="6409990" y="963029"/>
            <a:ext cx="4590784" cy="4936489"/>
          </a:xfrm>
          <a:prstGeom prst="rect">
            <a:avLst/>
          </a:prstGeom>
        </p:spPr>
      </p:pic>
      <p:pic>
        <p:nvPicPr>
          <p:cNvPr id="6" name="Picture 5">
            <a:extLst>
              <a:ext uri="{FF2B5EF4-FFF2-40B4-BE49-F238E27FC236}">
                <a16:creationId xmlns:a16="http://schemas.microsoft.com/office/drawing/2014/main" id="{7CA8F412-8F6D-72BF-3012-DD49335545B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09989" y="958482"/>
            <a:ext cx="4590785" cy="4936489"/>
          </a:xfrm>
          <a:prstGeom prst="rect">
            <a:avLst/>
          </a:prstGeom>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a:latin typeface="Arial"/>
                <a:cs typeface="Arial"/>
              </a:rPr>
              <a:t>Problem Statement </a:t>
            </a:r>
            <a:r>
              <a:rPr lang="en-US" sz="2200">
                <a:latin typeface="Arial"/>
                <a:cs typeface="Arial"/>
              </a:rPr>
              <a:t>(Should not include solution)</a:t>
            </a:r>
          </a:p>
          <a:p>
            <a:pPr marL="305435" indent="-305435">
              <a:spcBef>
                <a:spcPct val="20000"/>
              </a:spcBef>
              <a:spcAft>
                <a:spcPts val="600"/>
              </a:spcAft>
            </a:pPr>
            <a:r>
              <a:rPr lang="en-US" sz="2200" b="1">
                <a:latin typeface="Arial"/>
                <a:cs typeface="Arial"/>
              </a:rPr>
              <a:t>Proposed System/Solution</a:t>
            </a:r>
            <a:endParaRPr lang="en-US" sz="2200">
              <a:latin typeface="Arial"/>
              <a:cs typeface="Arial"/>
            </a:endParaRPr>
          </a:p>
          <a:p>
            <a:pPr marL="305435" indent="-305435">
              <a:spcBef>
                <a:spcPct val="20000"/>
              </a:spcBef>
              <a:spcAft>
                <a:spcPts val="600"/>
              </a:spcAft>
            </a:pPr>
            <a:r>
              <a:rPr lang="en-US" sz="2200" b="1">
                <a:latin typeface="Arial"/>
                <a:cs typeface="Arial"/>
              </a:rPr>
              <a:t>System Development Approach </a:t>
            </a:r>
            <a:r>
              <a:rPr lang="en-US" sz="2200">
                <a:latin typeface="Arial"/>
                <a:cs typeface="Arial"/>
              </a:rPr>
              <a:t>(Technology Used) </a:t>
            </a:r>
          </a:p>
          <a:p>
            <a:pPr marL="305435" indent="-305435">
              <a:spcBef>
                <a:spcPct val="20000"/>
              </a:spcBef>
              <a:spcAft>
                <a:spcPts val="600"/>
              </a:spcAft>
            </a:pPr>
            <a:r>
              <a:rPr lang="en-US" sz="2200" b="1">
                <a:latin typeface="Arial"/>
                <a:cs typeface="Arial"/>
              </a:rPr>
              <a:t>Algorithm &amp; Deployment  </a:t>
            </a:r>
            <a:endParaRPr lang="en-US" sz="2200">
              <a:latin typeface="Arial"/>
              <a:cs typeface="Arial"/>
            </a:endParaRPr>
          </a:p>
          <a:p>
            <a:pPr marL="305435" indent="-305435">
              <a:spcBef>
                <a:spcPct val="20000"/>
              </a:spcBef>
              <a:spcAft>
                <a:spcPts val="600"/>
              </a:spcAft>
            </a:pPr>
            <a:r>
              <a:rPr lang="en-US" sz="2200" b="1">
                <a:latin typeface="Arial"/>
                <a:cs typeface="Arial"/>
              </a:rPr>
              <a:t>Result (Output Image)</a:t>
            </a:r>
            <a:endParaRPr lang="en-US" sz="2200">
              <a:latin typeface="Arial"/>
              <a:cs typeface="Arial"/>
            </a:endParaRPr>
          </a:p>
          <a:p>
            <a:pPr marL="305435" indent="-305435">
              <a:spcBef>
                <a:spcPct val="20000"/>
              </a:spcBef>
              <a:spcAft>
                <a:spcPts val="600"/>
              </a:spcAft>
            </a:pPr>
            <a:r>
              <a:rPr lang="en-US" sz="2200" b="1">
                <a:latin typeface="Arial"/>
                <a:cs typeface="Arial"/>
              </a:rPr>
              <a:t>Conclusion</a:t>
            </a:r>
            <a:endParaRPr lang="en-US" sz="2200">
              <a:latin typeface="Arial"/>
              <a:cs typeface="Arial"/>
            </a:endParaRPr>
          </a:p>
          <a:p>
            <a:pPr marL="305435" indent="-305435">
              <a:spcBef>
                <a:spcPct val="20000"/>
              </a:spcBef>
              <a:spcAft>
                <a:spcPts val="600"/>
              </a:spcAft>
            </a:pPr>
            <a:r>
              <a:rPr lang="en-US" sz="2200" b="1">
                <a:latin typeface="Arial"/>
                <a:cs typeface="Arial"/>
              </a:rPr>
              <a:t>Future Scope</a:t>
            </a:r>
            <a:endParaRPr lang="en-US" sz="2200">
              <a:latin typeface="Arial"/>
              <a:cs typeface="Arial"/>
            </a:endParaRPr>
          </a:p>
          <a:p>
            <a:pPr marL="305435" indent="-305435">
              <a:spcBef>
                <a:spcPct val="20000"/>
              </a:spcBef>
              <a:spcAft>
                <a:spcPts val="600"/>
              </a:spcAft>
            </a:pPr>
            <a:r>
              <a:rPr lang="en-US" sz="2200" b="1">
                <a:latin typeface="Arial"/>
                <a:cs typeface="Arial"/>
              </a:rPr>
              <a:t>References</a:t>
            </a:r>
            <a:endParaRPr lang="en-US" sz="2200">
              <a:latin typeface="Arial"/>
              <a:cs typeface="Arial"/>
            </a:endParaRPr>
          </a:p>
          <a:p>
            <a:endParaRPr lang="en-GB" sz="220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Problem Statement:</a:t>
            </a:r>
            <a:endParaRPr lang="en-US" sz="400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290512" y="1715071"/>
            <a:ext cx="10515600" cy="4251960"/>
          </a:xfrm>
        </p:spPr>
        <p:txBody>
          <a:bodyPr vert="horz" lIns="91440" tIns="45720" rIns="91440" bIns="45720" rtlCol="0">
            <a:normAutofit lnSpcReduction="10000"/>
          </a:bodyPr>
          <a:lstStyle/>
          <a:p>
            <a:r>
              <a:rPr lang="en-US" sz="2400" dirty="0"/>
              <a:t>Electric Vehicles (EVs) are gaining significant importance as a sustainable alternative to conventional fuel vehicles. Governments and organizations are promoting EV adoption to reduce carbon emissions and support environmentally friendly transportation systems. However, with the rapid growth in EV adoption, large amounts of sales data are generated across different regions, vehicle categories, and time periods.</a:t>
            </a:r>
          </a:p>
          <a:p>
            <a:r>
              <a:rPr lang="en-US" sz="2400" dirty="0"/>
              <a:t>Analyzing this large dataset manually is difficult and time-consuming. Decision makers require an effective way to visualize and analyze EV sales trends to understand patterns such as which states have higher EV adoption, how sales change over time, and which vehicle categories are most popular.</a:t>
            </a:r>
          </a:p>
          <a:p>
            <a:r>
              <a:rPr lang="en-US" sz="2400" dirty="0"/>
              <a:t>Therefore, there is a need for a system that can transform raw EV sales data into meaningful insights through interactive visualizations and analytical dashboards.</a:t>
            </a:r>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219075" y="1304306"/>
            <a:ext cx="10515600" cy="4950444"/>
          </a:xfrm>
        </p:spPr>
        <p:txBody>
          <a:bodyPr vert="horz" lIns="91440" tIns="45720" rIns="91440" bIns="45720" rtlCol="0" anchor="t">
            <a:noAutofit/>
          </a:bodyPr>
          <a:lstStyle/>
          <a:p>
            <a:r>
              <a:rPr lang="en-US" sz="1800" dirty="0"/>
              <a:t>The proposed system is an </a:t>
            </a:r>
            <a:r>
              <a:rPr lang="en-US" sz="1800" b="1" dirty="0"/>
              <a:t>interactive data analytics dashboard</a:t>
            </a:r>
            <a:r>
              <a:rPr lang="en-US" sz="1800" dirty="0"/>
              <a:t> developed using Power BI to analyze Electric Vehicle sales data. The system focuses on converting raw EV sales data into meaningful visual insights that help users easily understand sales patterns and trends.</a:t>
            </a:r>
          </a:p>
          <a:p>
            <a:r>
              <a:rPr lang="en-US" sz="1800" dirty="0"/>
              <a:t>The solution involves the following steps:</a:t>
            </a:r>
          </a:p>
          <a:p>
            <a:r>
              <a:rPr lang="en-US" sz="1800" b="1" dirty="0"/>
              <a:t>Data Collection</a:t>
            </a:r>
            <a:br>
              <a:rPr lang="en-US" sz="1800" dirty="0"/>
            </a:br>
            <a:r>
              <a:rPr lang="en-US" sz="1800" dirty="0"/>
              <a:t>The dataset contains EV sales information including attributes such as year, month, state, vehicle class, vehicle category, and EV sales quantity.</a:t>
            </a:r>
          </a:p>
          <a:p>
            <a:r>
              <a:rPr lang="en-US" sz="1800" b="1" dirty="0"/>
              <a:t>Data Preprocessing</a:t>
            </a:r>
            <a:br>
              <a:rPr lang="en-US" sz="1800" dirty="0"/>
            </a:br>
            <a:r>
              <a:rPr lang="en-US" sz="1800" dirty="0"/>
              <a:t>The dataset is cleaned and prepared using Power BI's data transformation features. Unnecessary columns are removed and data is formatted correctly to ensure accurate analysis.</a:t>
            </a:r>
          </a:p>
          <a:p>
            <a:r>
              <a:rPr lang="en-US" sz="1800" b="1" dirty="0"/>
              <a:t>Data Visualization</a:t>
            </a:r>
            <a:br>
              <a:rPr lang="en-US" sz="1800" dirty="0"/>
            </a:br>
            <a:r>
              <a:rPr lang="en-US" sz="1800" dirty="0"/>
              <a:t>Different visual elements such as line charts, bar charts, pie charts, and </a:t>
            </a:r>
            <a:r>
              <a:rPr lang="en-US" sz="1800" dirty="0" err="1"/>
              <a:t>treemaps</a:t>
            </a:r>
            <a:r>
              <a:rPr lang="en-US" sz="1800" dirty="0"/>
              <a:t> are used to represent EV sales trends, regional adoption, and category distribution.</a:t>
            </a:r>
          </a:p>
          <a:p>
            <a:r>
              <a:rPr lang="en-US" sz="1800" b="1" dirty="0"/>
              <a:t>Interactive Analysis</a:t>
            </a:r>
            <a:br>
              <a:rPr lang="en-US" sz="1800" dirty="0"/>
            </a:br>
            <a:r>
              <a:rPr lang="en-US" sz="1800" dirty="0"/>
              <a:t>Slicers and filters are implemented to allow users to dynamically explore the data based on different parameters such as year, state, and vehicle category.</a:t>
            </a:r>
          </a:p>
          <a:p>
            <a:r>
              <a:rPr lang="en-US" sz="1800" dirty="0"/>
              <a:t>This system enables users to quickly identify patterns and make informed decisions based on EV sales data.</a:t>
            </a:r>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a:cs typeface="Arial"/>
              </a:rPr>
              <a:t>System  Approach:</a:t>
            </a:r>
            <a:endParaRPr lang="en-US" sz="4000" dirty="0"/>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317409" y="1477108"/>
            <a:ext cx="10515600" cy="4681364"/>
          </a:xfrm>
        </p:spPr>
        <p:txBody>
          <a:bodyPr vert="horz" lIns="91440" tIns="45720" rIns="91440" bIns="45720" rtlCol="0">
            <a:normAutofit fontScale="85000" lnSpcReduction="20000"/>
          </a:bodyPr>
          <a:lstStyle/>
          <a:p>
            <a:r>
              <a:rPr lang="en-US" sz="2400" dirty="0"/>
              <a:t>The system is developed using modern data visualization and analytics tools.</a:t>
            </a:r>
          </a:p>
          <a:p>
            <a:r>
              <a:rPr lang="en-US" sz="2400" b="1" dirty="0"/>
              <a:t>Hardware Requirements</a:t>
            </a:r>
            <a:endParaRPr lang="en-US" sz="2400" dirty="0"/>
          </a:p>
          <a:p>
            <a:r>
              <a:rPr lang="en-US" sz="2400" dirty="0"/>
              <a:t>Laptop or Desktop Computer</a:t>
            </a:r>
          </a:p>
          <a:p>
            <a:r>
              <a:rPr lang="en-US" sz="2400" dirty="0"/>
              <a:t>Minimum 8 GB RAM for smooth Power BI operation</a:t>
            </a:r>
          </a:p>
          <a:p>
            <a:r>
              <a:rPr lang="en-US" sz="2400" b="1" dirty="0"/>
              <a:t>Software Requirements</a:t>
            </a:r>
            <a:endParaRPr lang="en-US" sz="2400" dirty="0"/>
          </a:p>
          <a:p>
            <a:r>
              <a:rPr lang="en-US" sz="2400" dirty="0"/>
              <a:t>Microsoft Power BI for dashboard creation</a:t>
            </a:r>
          </a:p>
          <a:p>
            <a:r>
              <a:rPr lang="en-US" sz="2400" dirty="0"/>
              <a:t>Microsoft Excel for dataset storage and initial data viewing</a:t>
            </a:r>
          </a:p>
          <a:p>
            <a:r>
              <a:rPr lang="en-US" sz="2400" b="1" dirty="0"/>
              <a:t>Tools and Techniques Used</a:t>
            </a:r>
            <a:endParaRPr lang="en-US" sz="2400" dirty="0"/>
          </a:p>
          <a:p>
            <a:r>
              <a:rPr lang="en-US" sz="2400" dirty="0"/>
              <a:t>Power Query is used for data cleaning and transformation.</a:t>
            </a:r>
            <a:br>
              <a:rPr lang="en-US" sz="2400" dirty="0"/>
            </a:br>
            <a:r>
              <a:rPr lang="en-US" sz="2400" dirty="0"/>
              <a:t>Data Analysis Expressions (DAX) are used to create calculated measures such as total EV sales and distinct counts of states or vehicle categories.</a:t>
            </a:r>
            <a:br>
              <a:rPr lang="en-US" sz="2400" dirty="0"/>
            </a:br>
            <a:r>
              <a:rPr lang="en-US" sz="2400" dirty="0"/>
              <a:t>Interactive visualizations are created to represent EV sales trends in a clear and meaningful way.</a:t>
            </a:r>
          </a:p>
          <a:p>
            <a:r>
              <a:rPr lang="en-US" sz="2400" dirty="0"/>
              <a:t>The system integrates these technologies to build a user-friendly and efficient analytics dashboard.</a:t>
            </a:r>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Algorithm &amp; Deployment:</a:t>
            </a:r>
            <a:endParaRPr lang="en-US" sz="40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196362" y="1336431"/>
            <a:ext cx="10515600" cy="4834975"/>
          </a:xfrm>
        </p:spPr>
        <p:txBody>
          <a:bodyPr vert="horz" lIns="91440" tIns="45720" rIns="91440" bIns="45720" rtlCol="0">
            <a:noAutofit/>
          </a:bodyPr>
          <a:lstStyle/>
          <a:p>
            <a:r>
              <a:rPr lang="en-US" sz="1300" b="1" dirty="0"/>
              <a:t>Algorithm Selection</a:t>
            </a:r>
            <a:endParaRPr lang="en-US" sz="1300" dirty="0"/>
          </a:p>
          <a:p>
            <a:r>
              <a:rPr lang="en-US" sz="1300" dirty="0"/>
              <a:t>This project does not use machine learning algorithms but instead focuses on </a:t>
            </a:r>
            <a:r>
              <a:rPr lang="en-US" sz="1300" b="1" dirty="0"/>
              <a:t>data analytics and visualization techniques</a:t>
            </a:r>
            <a:r>
              <a:rPr lang="en-US" sz="1300" dirty="0"/>
              <a:t>. Power BI is used to analyze historical EV sales data and generate insights.</a:t>
            </a:r>
          </a:p>
          <a:p>
            <a:r>
              <a:rPr lang="en-US" sz="1300" b="1" dirty="0"/>
              <a:t>Data Input</a:t>
            </a:r>
            <a:endParaRPr lang="en-US" sz="1300" dirty="0"/>
          </a:p>
          <a:p>
            <a:r>
              <a:rPr lang="en-US" sz="1300" dirty="0"/>
              <a:t>Input data includes:</a:t>
            </a:r>
          </a:p>
          <a:p>
            <a:r>
              <a:rPr lang="en-US" sz="1300" dirty="0"/>
              <a:t>Year</a:t>
            </a:r>
          </a:p>
          <a:p>
            <a:r>
              <a:rPr lang="en-US" sz="1300" dirty="0"/>
              <a:t>Month</a:t>
            </a:r>
          </a:p>
          <a:p>
            <a:r>
              <a:rPr lang="en-US" sz="1300" dirty="0"/>
              <a:t>State</a:t>
            </a:r>
          </a:p>
          <a:p>
            <a:r>
              <a:rPr lang="en-US" sz="1300" dirty="0"/>
              <a:t>Vehicle Class</a:t>
            </a:r>
          </a:p>
          <a:p>
            <a:r>
              <a:rPr lang="en-US" sz="1300" dirty="0"/>
              <a:t>Vehicle Category</a:t>
            </a:r>
          </a:p>
          <a:p>
            <a:r>
              <a:rPr lang="en-US" sz="1300" dirty="0"/>
              <a:t>EV Sales Quantity</a:t>
            </a:r>
          </a:p>
          <a:p>
            <a:r>
              <a:rPr lang="en-US" sz="1300" b="1" dirty="0"/>
              <a:t>Processing</a:t>
            </a:r>
            <a:endParaRPr lang="en-US" sz="1300" dirty="0"/>
          </a:p>
          <a:p>
            <a:r>
              <a:rPr lang="en-US" sz="1300" dirty="0"/>
              <a:t>The data is processed using Power BI features such as:</a:t>
            </a:r>
          </a:p>
          <a:p>
            <a:r>
              <a:rPr lang="en-US" sz="1300" dirty="0"/>
              <a:t>Data cleaning using Power Query</a:t>
            </a:r>
          </a:p>
          <a:p>
            <a:r>
              <a:rPr lang="en-US" sz="1300" dirty="0"/>
              <a:t>Creation of calculated measures using DAX</a:t>
            </a:r>
          </a:p>
          <a:p>
            <a:r>
              <a:rPr lang="en-US" sz="1300" dirty="0"/>
              <a:t>Aggregation of EV sales by state, category, and time</a:t>
            </a:r>
          </a:p>
          <a:p>
            <a:r>
              <a:rPr lang="en-US" sz="1300" b="1" dirty="0"/>
              <a:t>Deployment</a:t>
            </a:r>
            <a:endParaRPr lang="en-US" sz="1300" dirty="0"/>
          </a:p>
          <a:p>
            <a:r>
              <a:rPr lang="en-US" sz="1300" dirty="0"/>
              <a:t>The dashboard is developed and deployed using Power BI Desktop where users can interact with charts and filters to explore EV sales trends.</a:t>
            </a:r>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Result:</a:t>
            </a:r>
            <a:endParaRPr lang="en-US" sz="4000" dirty="0"/>
          </a:p>
        </p:txBody>
      </p:sp>
      <p:sp>
        <p:nvSpPr>
          <p:cNvPr id="3" name="Content Placeholder 2">
            <a:extLst>
              <a:ext uri="{FF2B5EF4-FFF2-40B4-BE49-F238E27FC236}">
                <a16:creationId xmlns:a16="http://schemas.microsoft.com/office/drawing/2014/main" id="{66102C9B-C4AF-D0DB-DE74-862D9812001C}"/>
              </a:ext>
            </a:extLst>
          </p:cNvPr>
          <p:cNvSpPr>
            <a:spLocks noGrp="1"/>
          </p:cNvSpPr>
          <p:nvPr>
            <p:ph idx="1"/>
          </p:nvPr>
        </p:nvSpPr>
        <p:spPr>
          <a:xfrm>
            <a:off x="338137" y="1584103"/>
            <a:ext cx="10515600" cy="4251960"/>
          </a:xfrm>
        </p:spPr>
        <p:txBody>
          <a:bodyPr vert="horz" lIns="91440" tIns="45720" rIns="91440" bIns="45720" rtlCol="0">
            <a:normAutofit lnSpcReduction="10000"/>
          </a:bodyPr>
          <a:lstStyle/>
          <a:p>
            <a:r>
              <a:rPr lang="en-US" sz="2400" dirty="0"/>
              <a:t>The developed dashboard successfully converts raw EV sales data into meaningful visual insights. Various charts and visual elements help users understand the patterns in EV adoption across different regions and time periods.</a:t>
            </a:r>
          </a:p>
          <a:p>
            <a:r>
              <a:rPr lang="en-US" sz="2400" dirty="0"/>
              <a:t>Key outcomes of the project include:</a:t>
            </a:r>
          </a:p>
          <a:p>
            <a:r>
              <a:rPr lang="en-US" sz="2400" dirty="0"/>
              <a:t>Identification of </a:t>
            </a:r>
            <a:r>
              <a:rPr lang="en-US" sz="2400" b="1" dirty="0"/>
              <a:t>top states with the highest EV adoption</a:t>
            </a:r>
            <a:endParaRPr lang="en-US" sz="2400" dirty="0"/>
          </a:p>
          <a:p>
            <a:r>
              <a:rPr lang="en-US" sz="2400" dirty="0"/>
              <a:t>Visualization of </a:t>
            </a:r>
            <a:r>
              <a:rPr lang="en-US" sz="2400" b="1" dirty="0"/>
              <a:t>EV sales growth trends over multiple years</a:t>
            </a:r>
            <a:endParaRPr lang="en-US" sz="2400" dirty="0"/>
          </a:p>
          <a:p>
            <a:r>
              <a:rPr lang="en-US" sz="2400" dirty="0"/>
              <a:t>Analysis of </a:t>
            </a:r>
            <a:r>
              <a:rPr lang="en-US" sz="2400" b="1" dirty="0"/>
              <a:t>vehicle category distribution within EV sales</a:t>
            </a:r>
            <a:endParaRPr lang="en-US" sz="2400" dirty="0"/>
          </a:p>
          <a:p>
            <a:r>
              <a:rPr lang="en-US" sz="2400" dirty="0"/>
              <a:t>Interactive filtering of data based on </a:t>
            </a:r>
            <a:r>
              <a:rPr lang="en-US" sz="2400" b="1" dirty="0"/>
              <a:t>year, state, vehicle class, and category</a:t>
            </a:r>
            <a:endParaRPr lang="en-US" sz="2400" dirty="0"/>
          </a:p>
          <a:p>
            <a:r>
              <a:rPr lang="en-US" sz="2400" dirty="0"/>
              <a:t>The dashboard provides a clear and interactive platform for exploring EV sales data and understanding the factors influencing EV adoption.</a:t>
            </a:r>
          </a:p>
          <a:p>
            <a:pPr marL="0" indent="0">
              <a:buNone/>
            </a:pPr>
            <a:endParaRPr lang="en-US" sz="2400" dirty="0"/>
          </a:p>
        </p:txBody>
      </p:sp>
    </p:spTree>
    <p:extLst>
      <p:ext uri="{BB962C8B-B14F-4D97-AF65-F5344CB8AC3E}">
        <p14:creationId xmlns:p14="http://schemas.microsoft.com/office/powerpoint/2010/main" val="5874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B33DFE0-C67F-9A8E-34DC-A04E747C70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8773B5-DD1F-704F-EFEF-D8EF171F8B1A}"/>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a:cs typeface="Arial"/>
              </a:rPr>
              <a:t>OUTPUT(SCREENSHOTS):</a:t>
            </a:r>
            <a:endParaRPr lang="en-US" sz="4000" dirty="0"/>
          </a:p>
        </p:txBody>
      </p:sp>
      <p:pic>
        <p:nvPicPr>
          <p:cNvPr id="15" name="Content Placeholder 14">
            <a:extLst>
              <a:ext uri="{FF2B5EF4-FFF2-40B4-BE49-F238E27FC236}">
                <a16:creationId xmlns:a16="http://schemas.microsoft.com/office/drawing/2014/main" id="{96E8124F-BF28-6562-7235-91175C208BB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91390" y="1584325"/>
            <a:ext cx="7609095" cy="4251325"/>
          </a:xfrm>
        </p:spPr>
      </p:pic>
      <p:pic>
        <p:nvPicPr>
          <p:cNvPr id="17" name="Picture 16">
            <a:extLst>
              <a:ext uri="{FF2B5EF4-FFF2-40B4-BE49-F238E27FC236}">
                <a16:creationId xmlns:a16="http://schemas.microsoft.com/office/drawing/2014/main" id="{9DF1838E-E5FE-B1D3-741B-4FAC85BC31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3770" y="1266093"/>
            <a:ext cx="11781692" cy="5222630"/>
          </a:xfrm>
          <a:prstGeom prst="rect">
            <a:avLst/>
          </a:prstGeom>
        </p:spPr>
      </p:pic>
    </p:spTree>
    <p:extLst>
      <p:ext uri="{BB962C8B-B14F-4D97-AF65-F5344CB8AC3E}">
        <p14:creationId xmlns:p14="http://schemas.microsoft.com/office/powerpoint/2010/main" val="31536170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6843C2D-07B2-989F-7A4F-A851CB9FBB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30682D-2922-294B-A9E5-8C4467822BF1}"/>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a:cs typeface="Arial"/>
              </a:rPr>
              <a:t>OUTPUT(SCREENSHOTS):</a:t>
            </a:r>
            <a:endParaRPr lang="en-US" sz="4000" dirty="0"/>
          </a:p>
        </p:txBody>
      </p:sp>
      <p:pic>
        <p:nvPicPr>
          <p:cNvPr id="15" name="Content Placeholder 14">
            <a:extLst>
              <a:ext uri="{FF2B5EF4-FFF2-40B4-BE49-F238E27FC236}">
                <a16:creationId xmlns:a16="http://schemas.microsoft.com/office/drawing/2014/main" id="{6C3A68FC-8260-DACA-4F5D-1689164590A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91390" y="1584325"/>
            <a:ext cx="7609095" cy="4251325"/>
          </a:xfrm>
        </p:spPr>
      </p:pic>
      <p:pic>
        <p:nvPicPr>
          <p:cNvPr id="4" name="Picture 3">
            <a:extLst>
              <a:ext uri="{FF2B5EF4-FFF2-40B4-BE49-F238E27FC236}">
                <a16:creationId xmlns:a16="http://schemas.microsoft.com/office/drawing/2014/main" id="{FBC8184D-85A7-E2B5-DADD-76A9347C68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599" y="1283677"/>
            <a:ext cx="11623431" cy="5252060"/>
          </a:xfrm>
          <a:prstGeom prst="rect">
            <a:avLst/>
          </a:prstGeom>
        </p:spPr>
      </p:pic>
    </p:spTree>
    <p:extLst>
      <p:ext uri="{BB962C8B-B14F-4D97-AF65-F5344CB8AC3E}">
        <p14:creationId xmlns:p14="http://schemas.microsoft.com/office/powerpoint/2010/main" val="33406386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262589" y="1622391"/>
            <a:ext cx="10515600" cy="4251960"/>
          </a:xfrm>
        </p:spPr>
        <p:txBody>
          <a:bodyPr vert="horz" lIns="91440" tIns="45720" rIns="91440" bIns="45720" rtlCol="0">
            <a:normAutofit/>
          </a:bodyPr>
          <a:lstStyle/>
          <a:p>
            <a:r>
              <a:rPr lang="en-US" sz="2400" dirty="0"/>
              <a:t>The Electric Vehicle Sales Analysis Dashboard demonstrates how data visualization tools can transform raw datasets into meaningful insights. By using Power BI, EV sales data can be analyzed efficiently and presented through interactive visualizations that are easy to interpret.</a:t>
            </a:r>
          </a:p>
          <a:p>
            <a:r>
              <a:rPr lang="en-US" sz="2400" dirty="0"/>
              <a:t>The dashboard helps users identify trends in EV adoption across different states, time periods, and vehicle categories. This makes it easier for stakeholders to understand market behavior and support decision-making processes related to electric mobility and sustainable transportation.</a:t>
            </a:r>
          </a:p>
        </p:txBody>
      </p:sp>
    </p:spTree>
    <p:extLst>
      <p:ext uri="{BB962C8B-B14F-4D97-AF65-F5344CB8AC3E}">
        <p14:creationId xmlns:p14="http://schemas.microsoft.com/office/powerpoint/2010/main" val="22453096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dirty="0">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232902" y="1515450"/>
            <a:ext cx="10515600" cy="4251960"/>
          </a:xfrm>
        </p:spPr>
        <p:txBody>
          <a:bodyPr vert="horz" lIns="91440" tIns="45720" rIns="91440" bIns="45720" rtlCol="0">
            <a:normAutofit/>
          </a:bodyPr>
          <a:lstStyle/>
          <a:p>
            <a:r>
              <a:rPr lang="en-US" sz="2400" dirty="0"/>
              <a:t>The project can be extended in several ways to enhance its capabilities.</a:t>
            </a:r>
          </a:p>
          <a:p>
            <a:r>
              <a:rPr lang="en-US" sz="2400" dirty="0"/>
              <a:t>Real-time EV sales data can be integrated to provide live monitoring of EV adoption trends. Advanced analytics techniques such as predictive modeling can be implemented to forecast future EV sales. Additional datasets such as charging infrastructure, government incentives, and environmental impact data can be included to provide deeper insights.</a:t>
            </a:r>
          </a:p>
          <a:p>
            <a:r>
              <a:rPr lang="en-US" sz="2400" dirty="0"/>
              <a:t>The dashboard can also be deployed on Power BI Service to enable online access and sharing with a larger audience.</a:t>
            </a:r>
          </a:p>
        </p:txBody>
      </p:sp>
    </p:spTree>
    <p:extLst>
      <p:ext uri="{BB962C8B-B14F-4D97-AF65-F5344CB8AC3E}">
        <p14:creationId xmlns:p14="http://schemas.microsoft.com/office/powerpoint/2010/main" val="3744199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References:</a:t>
            </a:r>
            <a:endParaRPr lang="en-US" sz="4000"/>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196803" y="1551125"/>
            <a:ext cx="11373873" cy="4251960"/>
          </a:xfrm>
        </p:spPr>
        <p:txBody>
          <a:bodyPr vert="horz" lIns="91440" tIns="45720" rIns="91440" bIns="45720" rtlCol="0" anchor="t">
            <a:normAutofit/>
          </a:bodyPr>
          <a:lstStyle/>
          <a:p>
            <a:pPr marL="0" indent="0">
              <a:buNone/>
            </a:pPr>
            <a:endParaRPr lang="en-US" sz="2200" dirty="0">
              <a:latin typeface="Aptos" panose="020B0004020202020204"/>
            </a:endParaRPr>
          </a:p>
          <a:p>
            <a:pPr marL="0" indent="0">
              <a:buNone/>
            </a:pPr>
            <a:endParaRPr lang="en-IN" sz="2200" u="sng" dirty="0">
              <a:solidFill>
                <a:srgbClr val="0070C0"/>
              </a:solidFill>
              <a:latin typeface="Franklin Gothic Book"/>
            </a:endParaRPr>
          </a:p>
          <a:p>
            <a:pPr marL="0" indent="0">
              <a:buNone/>
            </a:pPr>
            <a:endParaRPr lang="en-IN" sz="2200" dirty="0">
              <a:latin typeface="Franklin Gothic Book"/>
            </a:endParaRPr>
          </a:p>
        </p:txBody>
      </p:sp>
      <p:sp>
        <p:nvSpPr>
          <p:cNvPr id="9" name="TextBox 8">
            <a:extLst>
              <a:ext uri="{FF2B5EF4-FFF2-40B4-BE49-F238E27FC236}">
                <a16:creationId xmlns:a16="http://schemas.microsoft.com/office/drawing/2014/main" id="{E0565F72-0DB1-0A01-8F5A-0D999F86C72F}"/>
              </a:ext>
            </a:extLst>
          </p:cNvPr>
          <p:cNvSpPr txBox="1"/>
          <p:nvPr/>
        </p:nvSpPr>
        <p:spPr>
          <a:xfrm>
            <a:off x="196803" y="1601468"/>
            <a:ext cx="9899590" cy="2308324"/>
          </a:xfrm>
          <a:prstGeom prst="rect">
            <a:avLst/>
          </a:prstGeom>
          <a:noFill/>
        </p:spPr>
        <p:txBody>
          <a:bodyPr wrap="square" rtlCol="0">
            <a:spAutoFit/>
          </a:bodyPr>
          <a:lstStyle/>
          <a:p>
            <a:r>
              <a:rPr lang="en-US" sz="2400" dirty="0"/>
              <a:t>EV Sales Dataset Source</a:t>
            </a:r>
          </a:p>
          <a:p>
            <a:r>
              <a:rPr lang="en-US" sz="2400" dirty="0"/>
              <a:t>Microsoft Power BI Documentation</a:t>
            </a:r>
          </a:p>
          <a:p>
            <a:r>
              <a:rPr lang="en-US" sz="2400" dirty="0"/>
              <a:t>Microsoft Learn Power BI Tutorials</a:t>
            </a:r>
          </a:p>
          <a:p>
            <a:r>
              <a:rPr lang="en-US" sz="2400" dirty="0"/>
              <a:t>Data Visualization and Analytics Resources</a:t>
            </a:r>
          </a:p>
          <a:p>
            <a:endParaRPr lang="en-US" sz="2400" dirty="0"/>
          </a:p>
          <a:p>
            <a:r>
              <a:rPr lang="en-US" sz="2400" dirty="0"/>
              <a:t>GitHub : </a:t>
            </a:r>
            <a:r>
              <a:rPr lang="en-US" sz="2400" dirty="0">
                <a:hlinkClick r:id="rId2"/>
              </a:rPr>
              <a:t>https://github.com/adityarawat-05/EV-Sales-PowerBi-Dashboard</a:t>
            </a:r>
            <a:endParaRPr lang="en-US" sz="2400" dirty="0"/>
          </a:p>
        </p:txBody>
      </p:sp>
    </p:spTree>
    <p:extLst>
      <p:ext uri="{BB962C8B-B14F-4D97-AF65-F5344CB8AC3E}">
        <p14:creationId xmlns:p14="http://schemas.microsoft.com/office/powerpoint/2010/main" val="16917006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TotalTime>
  <Words>960</Words>
  <Application>Microsoft Office PowerPoint</Application>
  <PresentationFormat>Widescreen</PresentationFormat>
  <Paragraphs>85</Paragraphs>
  <Slides>13</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13</vt:i4>
      </vt:variant>
    </vt:vector>
  </HeadingPairs>
  <TitlesOfParts>
    <vt:vector size="19" baseType="lpstr">
      <vt:lpstr>Aptos</vt:lpstr>
      <vt:lpstr>Arial</vt:lpstr>
      <vt:lpstr>Calibri</vt:lpstr>
      <vt:lpstr>Franklin Gothic Book</vt: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OUTPUT(SCREENSHOTS):</vt:lpstr>
      <vt:lpstr>OUTPUT(SCREENSHOTS):</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Aditya Rawat</cp:lastModifiedBy>
  <cp:revision>108</cp:revision>
  <dcterms:created xsi:type="dcterms:W3CDTF">2024-05-21T11:55:07Z</dcterms:created>
  <dcterms:modified xsi:type="dcterms:W3CDTF">2026-03-14T06:32:38Z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